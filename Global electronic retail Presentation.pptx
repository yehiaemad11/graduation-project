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Ultra-Bold" charset="1" panose="02000503000000020004"/>
      <p:regular r:id="rId18"/>
    </p:embeddedFont>
    <p:embeddedFont>
      <p:font typeface="Inter" charset="1" panose="020B0502030000000004"/>
      <p:regular r:id="rId19"/>
    </p:embeddedFont>
    <p:embeddedFont>
      <p:font typeface="Inter Medium" charset="1" panose="02000503000000020004"/>
      <p:regular r:id="rId20"/>
    </p:embeddedFont>
    <p:embeddedFont>
      <p:font typeface="Open Sauce Bold" charset="1" panose="00000800000000000000"/>
      <p:regular r:id="rId21"/>
    </p:embeddedFont>
    <p:embeddedFont>
      <p:font typeface="Cy Grotesk Key" charset="1" panose="00000500000000000000"/>
      <p:regular r:id="rId22"/>
    </p:embeddedFont>
    <p:embeddedFont>
      <p:font typeface="Inter Bold" charset="1" panose="020B0802030000000004"/>
      <p:regular r:id="rId23"/>
    </p:embeddedFont>
    <p:embeddedFont>
      <p:font typeface="Saira Bold" charset="1" panose="00000800000000000000"/>
      <p:regular r:id="rId24"/>
    </p:embeddedFont>
    <p:embeddedFont>
      <p:font typeface="Saira" charset="1" panose="00000500000000000000"/>
      <p:regular r:id="rId25"/>
    </p:embeddedFont>
    <p:embeddedFont>
      <p:font typeface="DM Sans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jpe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2" Target="../media/image28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26.png" Type="http://schemas.openxmlformats.org/officeDocument/2006/relationships/image"/><Relationship Id="rId2" Target="../media/image28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6.png" Type="http://schemas.openxmlformats.org/officeDocument/2006/relationships/image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jpeg" Type="http://schemas.openxmlformats.org/officeDocument/2006/relationships/image"/><Relationship Id="rId3" Target="../media/image14.jpe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jpe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8244" y="0"/>
            <a:ext cx="1893569" cy="1434083"/>
            <a:chOff x="0" y="0"/>
            <a:chExt cx="462004" cy="34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2004" cy="349896"/>
            </a:xfrm>
            <a:custGeom>
              <a:avLst/>
              <a:gdLst/>
              <a:ahLst/>
              <a:cxnLst/>
              <a:rect r="r" b="b" t="t" l="l"/>
              <a:pathLst>
                <a:path h="349896" w="462004">
                  <a:moveTo>
                    <a:pt x="258804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462004" y="349896"/>
                  </a:lnTo>
                  <a:lnTo>
                    <a:pt x="258804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57150"/>
              <a:ext cx="258804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17935" y="-630466"/>
            <a:ext cx="11905429" cy="5942495"/>
            <a:chOff x="0" y="0"/>
            <a:chExt cx="700995" cy="349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0995" cy="349896"/>
            </a:xfrm>
            <a:custGeom>
              <a:avLst/>
              <a:gdLst/>
              <a:ahLst/>
              <a:cxnLst/>
              <a:rect r="r" b="b" t="t" l="l"/>
              <a:pathLst>
                <a:path h="349896" w="700995">
                  <a:moveTo>
                    <a:pt x="497795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700995" y="349896"/>
                  </a:lnTo>
                  <a:lnTo>
                    <a:pt x="497795" y="0"/>
                  </a:lnTo>
                  <a:close/>
                </a:path>
              </a:pathLst>
            </a:custGeom>
            <a:solidFill>
              <a:srgbClr val="152D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57150"/>
              <a:ext cx="497795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64178" y="7077909"/>
            <a:ext cx="7629162" cy="4525999"/>
            <a:chOff x="0" y="0"/>
            <a:chExt cx="589566" cy="349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9566" cy="349760"/>
            </a:xfrm>
            <a:custGeom>
              <a:avLst/>
              <a:gdLst/>
              <a:ahLst/>
              <a:cxnLst/>
              <a:rect r="r" b="b" t="t" l="l"/>
              <a:pathLst>
                <a:path h="349760" w="589566">
                  <a:moveTo>
                    <a:pt x="203200" y="0"/>
                  </a:moveTo>
                  <a:lnTo>
                    <a:pt x="589566" y="0"/>
                  </a:lnTo>
                  <a:lnTo>
                    <a:pt x="386366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57150"/>
              <a:ext cx="386366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8177529"/>
            <a:ext cx="6043580" cy="811377"/>
            <a:chOff x="0" y="0"/>
            <a:chExt cx="2605206" cy="349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05206" cy="349760"/>
            </a:xfrm>
            <a:custGeom>
              <a:avLst/>
              <a:gdLst/>
              <a:ahLst/>
              <a:cxnLst/>
              <a:rect r="r" b="b" t="t" l="l"/>
              <a:pathLst>
                <a:path h="349760" w="2605206">
                  <a:moveTo>
                    <a:pt x="203200" y="0"/>
                  </a:moveTo>
                  <a:lnTo>
                    <a:pt x="2605206" y="0"/>
                  </a:lnTo>
                  <a:lnTo>
                    <a:pt x="2402006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52D5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57150"/>
              <a:ext cx="2402006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823702" y="7872459"/>
            <a:ext cx="2980246" cy="1421515"/>
            <a:chOff x="0" y="0"/>
            <a:chExt cx="733282" cy="349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282" cy="349760"/>
            </a:xfrm>
            <a:custGeom>
              <a:avLst/>
              <a:gdLst/>
              <a:ahLst/>
              <a:cxnLst/>
              <a:rect r="r" b="b" t="t" l="l"/>
              <a:pathLst>
                <a:path h="349760" w="733282">
                  <a:moveTo>
                    <a:pt x="203200" y="0"/>
                  </a:moveTo>
                  <a:lnTo>
                    <a:pt x="733282" y="0"/>
                  </a:lnTo>
                  <a:lnTo>
                    <a:pt x="530082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57150"/>
              <a:ext cx="530082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301216" y="9187603"/>
            <a:ext cx="2535424" cy="1289897"/>
          </a:xfrm>
          <a:custGeom>
            <a:avLst/>
            <a:gdLst/>
            <a:ahLst/>
            <a:cxnLst/>
            <a:rect r="r" b="b" t="t" l="l"/>
            <a:pathLst>
              <a:path h="1289897" w="2535424">
                <a:moveTo>
                  <a:pt x="0" y="0"/>
                </a:moveTo>
                <a:lnTo>
                  <a:pt x="2535424" y="0"/>
                </a:lnTo>
                <a:lnTo>
                  <a:pt x="2535424" y="1289897"/>
                </a:lnTo>
                <a:lnTo>
                  <a:pt x="0" y="1289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1507265" y="1096012"/>
            <a:ext cx="478861" cy="442617"/>
            <a:chOff x="0" y="0"/>
            <a:chExt cx="638481" cy="59015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13559" y="61917"/>
              <a:ext cx="324922" cy="466322"/>
              <a:chOff x="0" y="0"/>
              <a:chExt cx="418359" cy="60042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18359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18359">
                    <a:moveTo>
                      <a:pt x="0" y="0"/>
                    </a:moveTo>
                    <a:lnTo>
                      <a:pt x="215159" y="0"/>
                    </a:lnTo>
                    <a:lnTo>
                      <a:pt x="418359" y="300211"/>
                    </a:lnTo>
                    <a:lnTo>
                      <a:pt x="215159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D5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77800" y="-57150"/>
                <a:ext cx="164359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399452" cy="590156"/>
              <a:chOff x="0" y="0"/>
              <a:chExt cx="406400" cy="6004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6400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300211"/>
                    </a:lnTo>
                    <a:lnTo>
                      <a:pt x="203200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629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57150"/>
                <a:ext cx="152400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10121813" y="1723369"/>
            <a:ext cx="820519" cy="909162"/>
          </a:xfrm>
          <a:custGeom>
            <a:avLst/>
            <a:gdLst/>
            <a:ahLst/>
            <a:cxnLst/>
            <a:rect r="r" b="b" t="t" l="l"/>
            <a:pathLst>
              <a:path h="909162" w="820519">
                <a:moveTo>
                  <a:pt x="0" y="0"/>
                </a:moveTo>
                <a:lnTo>
                  <a:pt x="820519" y="0"/>
                </a:lnTo>
                <a:lnTo>
                  <a:pt x="820519" y="909162"/>
                </a:lnTo>
                <a:lnTo>
                  <a:pt x="0" y="909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9278877">
            <a:off x="12674068" y="-2553270"/>
            <a:ext cx="6636774" cy="4114800"/>
          </a:xfrm>
          <a:custGeom>
            <a:avLst/>
            <a:gdLst/>
            <a:ahLst/>
            <a:cxnLst/>
            <a:rect r="r" b="b" t="t" l="l"/>
            <a:pathLst>
              <a:path h="4114800" w="6636774">
                <a:moveTo>
                  <a:pt x="0" y="0"/>
                </a:moveTo>
                <a:lnTo>
                  <a:pt x="6636775" y="0"/>
                </a:lnTo>
                <a:lnTo>
                  <a:pt x="6636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808179" y="1028700"/>
            <a:ext cx="9376395" cy="8229600"/>
            <a:chOff x="0" y="0"/>
            <a:chExt cx="10418216" cy="914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18254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18254">
                  <a:moveTo>
                    <a:pt x="8207073" y="817372"/>
                  </a:moveTo>
                  <a:lnTo>
                    <a:pt x="6022551" y="4572000"/>
                  </a:lnTo>
                  <a:lnTo>
                    <a:pt x="8207073" y="8326628"/>
                  </a:lnTo>
                  <a:lnTo>
                    <a:pt x="10418254" y="8326628"/>
                  </a:lnTo>
                  <a:lnTo>
                    <a:pt x="10418254" y="817372"/>
                  </a:lnTo>
                  <a:close/>
                  <a:moveTo>
                    <a:pt x="2660280" y="0"/>
                  </a:moveTo>
                  <a:lnTo>
                    <a:pt x="0" y="4572000"/>
                  </a:lnTo>
                  <a:lnTo>
                    <a:pt x="2660280" y="9144000"/>
                  </a:lnTo>
                  <a:lnTo>
                    <a:pt x="8124511" y="9144000"/>
                  </a:lnTo>
                  <a:lnTo>
                    <a:pt x="5464231" y="4572000"/>
                  </a:lnTo>
                  <a:lnTo>
                    <a:pt x="7648970" y="817372"/>
                  </a:lnTo>
                  <a:lnTo>
                    <a:pt x="8124511" y="0"/>
                  </a:lnTo>
                  <a:close/>
                </a:path>
              </a:pathLst>
            </a:custGeom>
            <a:blipFill>
              <a:blip r:embed="rId9"/>
              <a:stretch>
                <a:fillRect l="-30707" t="0" r="-30707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507265" y="2093112"/>
            <a:ext cx="7919913" cy="403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14141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GLOBAL ELECTRONIC RETAIL</a:t>
            </a:r>
            <a:r>
              <a:rPr lang="en-US" sz="7800" b="true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 </a:t>
            </a:r>
            <a:r>
              <a:rPr lang="en-US" sz="7800" b="true">
                <a:solidFill>
                  <a:srgbClr val="2C629A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DASHBOARD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07265" y="6091709"/>
            <a:ext cx="791991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27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ey metrics and insights to guide our business forward in June 2025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56544" y="8296514"/>
            <a:ext cx="3701921" cy="4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99" spc="26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Presentation 2025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89321" y="1075688"/>
            <a:ext cx="2502349" cy="4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Larana Inc.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230" y="238388"/>
            <a:ext cx="590398" cy="590398"/>
          </a:xfrm>
          <a:custGeom>
            <a:avLst/>
            <a:gdLst/>
            <a:ahLst/>
            <a:cxnLst/>
            <a:rect r="r" b="b" t="t" l="l"/>
            <a:pathLst>
              <a:path h="590398" w="590398">
                <a:moveTo>
                  <a:pt x="0" y="0"/>
                </a:moveTo>
                <a:lnTo>
                  <a:pt x="590398" y="0"/>
                </a:lnTo>
                <a:lnTo>
                  <a:pt x="590398" y="590399"/>
                </a:lnTo>
                <a:lnTo>
                  <a:pt x="0" y="590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0437" y="3619171"/>
            <a:ext cx="5278796" cy="55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1"/>
              </a:lnSpc>
            </a:pPr>
            <a:r>
              <a:rPr lang="en-US" b="true" sz="32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AHMED ABDELHAMEED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0437" y="4399280"/>
            <a:ext cx="4387111" cy="56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4"/>
              </a:lnSpc>
            </a:pPr>
            <a:r>
              <a:rPr lang="en-US" b="true" sz="332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YAHIA EMAD ELDIN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3368" y="695513"/>
            <a:ext cx="7456322" cy="229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 spc="-439" strike="noStrike" u="none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MEET</a:t>
            </a:r>
          </a:p>
          <a:p>
            <a:pPr algn="l" marL="0" indent="0" lvl="0">
              <a:lnSpc>
                <a:spcPts val="8799"/>
              </a:lnSpc>
            </a:pPr>
            <a:r>
              <a:rPr lang="en-US" sz="8799" spc="-439" strike="noStrike" u="none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OUR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0437" y="5190698"/>
            <a:ext cx="5569731" cy="57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2"/>
              </a:lnSpc>
            </a:pPr>
            <a:r>
              <a:rPr lang="en-US" b="true" sz="343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AHMED SHAARAWY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67440" y="0"/>
            <a:ext cx="9220560" cy="7537029"/>
            <a:chOff x="0" y="0"/>
            <a:chExt cx="5092535" cy="41627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2573" cy="4162679"/>
            </a:xfrm>
            <a:custGeom>
              <a:avLst/>
              <a:gdLst/>
              <a:ahLst/>
              <a:cxnLst/>
              <a:rect r="r" b="b" t="t" l="l"/>
              <a:pathLst>
                <a:path h="4162679" w="5092573">
                  <a:moveTo>
                    <a:pt x="4093337" y="0"/>
                  </a:moveTo>
                  <a:lnTo>
                    <a:pt x="3010535" y="1875155"/>
                  </a:lnTo>
                  <a:lnTo>
                    <a:pt x="4102100" y="3765423"/>
                  </a:lnTo>
                  <a:lnTo>
                    <a:pt x="5092573" y="3765423"/>
                  </a:lnTo>
                  <a:lnTo>
                    <a:pt x="5092573" y="0"/>
                  </a:lnTo>
                  <a:close/>
                  <a:moveTo>
                    <a:pt x="1082675" y="0"/>
                  </a:moveTo>
                  <a:lnTo>
                    <a:pt x="0" y="1875155"/>
                  </a:lnTo>
                  <a:lnTo>
                    <a:pt x="1320800" y="4162679"/>
                  </a:lnTo>
                  <a:lnTo>
                    <a:pt x="4057777" y="4162679"/>
                  </a:lnTo>
                  <a:lnTo>
                    <a:pt x="3828288" y="3765423"/>
                  </a:lnTo>
                  <a:lnTo>
                    <a:pt x="2737104" y="1875155"/>
                  </a:lnTo>
                  <a:lnTo>
                    <a:pt x="3819652" y="0"/>
                  </a:lnTo>
                  <a:close/>
                </a:path>
              </a:pathLst>
            </a:custGeom>
            <a:blipFill>
              <a:blip r:embed="rId4"/>
              <a:stretch>
                <a:fillRect l="0" t="-30577" r="0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2811630">
            <a:off x="645141" y="3690185"/>
            <a:ext cx="477483" cy="477483"/>
          </a:xfrm>
          <a:custGeom>
            <a:avLst/>
            <a:gdLst/>
            <a:ahLst/>
            <a:cxnLst/>
            <a:rect r="r" b="b" t="t" l="l"/>
            <a:pathLst>
              <a:path h="477483" w="477483">
                <a:moveTo>
                  <a:pt x="0" y="0"/>
                </a:moveTo>
                <a:lnTo>
                  <a:pt x="477484" y="0"/>
                </a:lnTo>
                <a:lnTo>
                  <a:pt x="477484" y="477484"/>
                </a:lnTo>
                <a:lnTo>
                  <a:pt x="0" y="47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11630">
            <a:off x="650023" y="4469868"/>
            <a:ext cx="477483" cy="477483"/>
          </a:xfrm>
          <a:custGeom>
            <a:avLst/>
            <a:gdLst/>
            <a:ahLst/>
            <a:cxnLst/>
            <a:rect r="r" b="b" t="t" l="l"/>
            <a:pathLst>
              <a:path h="477483" w="477483">
                <a:moveTo>
                  <a:pt x="0" y="0"/>
                </a:moveTo>
                <a:lnTo>
                  <a:pt x="477483" y="0"/>
                </a:lnTo>
                <a:lnTo>
                  <a:pt x="477483" y="477483"/>
                </a:lnTo>
                <a:lnTo>
                  <a:pt x="0" y="47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811630">
            <a:off x="640259" y="5268600"/>
            <a:ext cx="477483" cy="477483"/>
          </a:xfrm>
          <a:custGeom>
            <a:avLst/>
            <a:gdLst/>
            <a:ahLst/>
            <a:cxnLst/>
            <a:rect r="r" b="b" t="t" l="l"/>
            <a:pathLst>
              <a:path h="477483" w="477483">
                <a:moveTo>
                  <a:pt x="0" y="0"/>
                </a:moveTo>
                <a:lnTo>
                  <a:pt x="477484" y="0"/>
                </a:lnTo>
                <a:lnTo>
                  <a:pt x="477484" y="477484"/>
                </a:lnTo>
                <a:lnTo>
                  <a:pt x="0" y="47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46429" y="5968621"/>
            <a:ext cx="6713739" cy="1483165"/>
            <a:chOff x="0" y="0"/>
            <a:chExt cx="8951652" cy="197755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525344" y="-42480"/>
              <a:ext cx="7426308" cy="75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2"/>
                </a:lnSpc>
              </a:pPr>
              <a:r>
                <a:rPr lang="en-US" b="true" sz="3437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MOHAMED YAHIA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25344" y="1118970"/>
              <a:ext cx="7426308" cy="750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2"/>
                </a:lnSpc>
              </a:pPr>
              <a:r>
                <a:rPr lang="en-US" b="true" sz="3437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MOHAMED OSAMA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-2811630">
              <a:off x="138125" y="131616"/>
              <a:ext cx="636645" cy="636645"/>
            </a:xfrm>
            <a:custGeom>
              <a:avLst/>
              <a:gdLst/>
              <a:ahLst/>
              <a:cxnLst/>
              <a:rect r="r" b="b" t="t" l="l"/>
              <a:pathLst>
                <a:path h="636645" w="636645">
                  <a:moveTo>
                    <a:pt x="0" y="0"/>
                  </a:moveTo>
                  <a:lnTo>
                    <a:pt x="636645" y="0"/>
                  </a:lnTo>
                  <a:lnTo>
                    <a:pt x="636645" y="636645"/>
                  </a:lnTo>
                  <a:lnTo>
                    <a:pt x="0" y="63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2811630">
              <a:off x="131616" y="131616"/>
              <a:ext cx="636645" cy="636645"/>
            </a:xfrm>
            <a:custGeom>
              <a:avLst/>
              <a:gdLst/>
              <a:ahLst/>
              <a:cxnLst/>
              <a:rect r="r" b="b" t="t" l="l"/>
              <a:pathLst>
                <a:path h="636645" w="636645">
                  <a:moveTo>
                    <a:pt x="0" y="0"/>
                  </a:moveTo>
                  <a:lnTo>
                    <a:pt x="636645" y="0"/>
                  </a:lnTo>
                  <a:lnTo>
                    <a:pt x="636645" y="636645"/>
                  </a:lnTo>
                  <a:lnTo>
                    <a:pt x="0" y="63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2811630">
              <a:off x="138125" y="1209293"/>
              <a:ext cx="636645" cy="636645"/>
            </a:xfrm>
            <a:custGeom>
              <a:avLst/>
              <a:gdLst/>
              <a:ahLst/>
              <a:cxnLst/>
              <a:rect r="r" b="b" t="t" l="l"/>
              <a:pathLst>
                <a:path h="636645" w="636645">
                  <a:moveTo>
                    <a:pt x="0" y="0"/>
                  </a:moveTo>
                  <a:lnTo>
                    <a:pt x="636645" y="0"/>
                  </a:lnTo>
                  <a:lnTo>
                    <a:pt x="636645" y="636645"/>
                  </a:lnTo>
                  <a:lnTo>
                    <a:pt x="0" y="636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1614" y="-104671"/>
            <a:ext cx="9220560" cy="7537029"/>
            <a:chOff x="0" y="0"/>
            <a:chExt cx="5092535" cy="4162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92573" cy="4162679"/>
            </a:xfrm>
            <a:custGeom>
              <a:avLst/>
              <a:gdLst/>
              <a:ahLst/>
              <a:cxnLst/>
              <a:rect r="r" b="b" t="t" l="l"/>
              <a:pathLst>
                <a:path h="4162679" w="5092573">
                  <a:moveTo>
                    <a:pt x="4093337" y="0"/>
                  </a:moveTo>
                  <a:lnTo>
                    <a:pt x="3010535" y="1875155"/>
                  </a:lnTo>
                  <a:lnTo>
                    <a:pt x="4102100" y="3765423"/>
                  </a:lnTo>
                  <a:lnTo>
                    <a:pt x="5092573" y="3765423"/>
                  </a:lnTo>
                  <a:lnTo>
                    <a:pt x="5092573" y="0"/>
                  </a:lnTo>
                  <a:close/>
                  <a:moveTo>
                    <a:pt x="1082675" y="0"/>
                  </a:moveTo>
                  <a:lnTo>
                    <a:pt x="0" y="1875155"/>
                  </a:lnTo>
                  <a:lnTo>
                    <a:pt x="1320800" y="4162679"/>
                  </a:lnTo>
                  <a:lnTo>
                    <a:pt x="4057777" y="4162679"/>
                  </a:lnTo>
                  <a:lnTo>
                    <a:pt x="3828288" y="3765423"/>
                  </a:lnTo>
                  <a:lnTo>
                    <a:pt x="2737104" y="1875155"/>
                  </a:lnTo>
                  <a:lnTo>
                    <a:pt x="3819652" y="0"/>
                  </a:lnTo>
                  <a:close/>
                </a:path>
              </a:pathLst>
            </a:custGeom>
            <a:blipFill>
              <a:blip r:embed="rId3"/>
              <a:stretch>
                <a:fillRect l="0" t="-30577" r="0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84334" y="4710950"/>
            <a:ext cx="13833446" cy="4966410"/>
            <a:chOff x="0" y="0"/>
            <a:chExt cx="18444594" cy="66218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52422" y="0"/>
              <a:ext cx="18292172" cy="6621880"/>
              <a:chOff x="0" y="0"/>
              <a:chExt cx="2000544" cy="7242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00544" cy="724209"/>
              </a:xfrm>
              <a:custGeom>
                <a:avLst/>
                <a:gdLst/>
                <a:ahLst/>
                <a:cxnLst/>
                <a:rect r="r" b="b" t="t" l="l"/>
                <a:pathLst>
                  <a:path h="724209" w="2000544">
                    <a:moveTo>
                      <a:pt x="0" y="0"/>
                    </a:moveTo>
                    <a:lnTo>
                      <a:pt x="1797344" y="0"/>
                    </a:lnTo>
                    <a:lnTo>
                      <a:pt x="2000544" y="362105"/>
                    </a:lnTo>
                    <a:lnTo>
                      <a:pt x="1797344" y="724209"/>
                    </a:lnTo>
                    <a:lnTo>
                      <a:pt x="0" y="724209"/>
                    </a:lnTo>
                    <a:lnTo>
                      <a:pt x="203200" y="362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62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77800" y="-57150"/>
                <a:ext cx="1746544" cy="7813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29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195637" cy="6621880"/>
              <a:chOff x="0" y="0"/>
              <a:chExt cx="433706" cy="130802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33706" cy="1308026"/>
              </a:xfrm>
              <a:custGeom>
                <a:avLst/>
                <a:gdLst/>
                <a:ahLst/>
                <a:cxnLst/>
                <a:rect r="r" b="b" t="t" l="l"/>
                <a:pathLst>
                  <a:path h="1308026" w="433706">
                    <a:moveTo>
                      <a:pt x="0" y="0"/>
                    </a:moveTo>
                    <a:lnTo>
                      <a:pt x="433706" y="0"/>
                    </a:lnTo>
                    <a:lnTo>
                      <a:pt x="433706" y="1308026"/>
                    </a:lnTo>
                    <a:lnTo>
                      <a:pt x="0" y="1308026"/>
                    </a:lnTo>
                    <a:close/>
                  </a:path>
                </a:pathLst>
              </a:custGeom>
              <a:solidFill>
                <a:srgbClr val="2C62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33706" cy="13651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29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>
            <a:off x="2231651" y="5841205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869483" y="5841205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231651" y="6900385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7869483" y="6900385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231651" y="7959565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2231651" y="9014867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7869483" y="7959565"/>
            <a:ext cx="5070244" cy="0"/>
          </a:xfrm>
          <a:prstGeom prst="line">
            <a:avLst/>
          </a:prstGeom>
          <a:ln cap="flat" w="19050">
            <a:solidFill>
              <a:srgbClr val="FFFFFF">
                <a:alpha val="3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503400" y="1609725"/>
            <a:ext cx="7640600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6400" b="true">
                <a:solidFill>
                  <a:srgbClr val="141414"/>
                </a:solidFill>
                <a:latin typeface="Inter Bold"/>
                <a:ea typeface="Inter Bold"/>
                <a:cs typeface="Inter Bold"/>
                <a:sym typeface="Inter Bold"/>
              </a:rPr>
              <a:t>Table of Content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673365" y="-898892"/>
            <a:ext cx="2744659" cy="1797783"/>
            <a:chOff x="0" y="0"/>
            <a:chExt cx="533976" cy="349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976" cy="349760"/>
            </a:xfrm>
            <a:custGeom>
              <a:avLst/>
              <a:gdLst/>
              <a:ahLst/>
              <a:cxnLst/>
              <a:rect r="r" b="b" t="t" l="l"/>
              <a:pathLst>
                <a:path h="349760" w="533976">
                  <a:moveTo>
                    <a:pt x="203200" y="0"/>
                  </a:moveTo>
                  <a:lnTo>
                    <a:pt x="533976" y="0"/>
                  </a:lnTo>
                  <a:lnTo>
                    <a:pt x="330776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57150"/>
              <a:ext cx="330776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330992" y="9582110"/>
            <a:ext cx="4983028" cy="1409780"/>
            <a:chOff x="0" y="0"/>
            <a:chExt cx="1236267" cy="349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6267" cy="349760"/>
            </a:xfrm>
            <a:custGeom>
              <a:avLst/>
              <a:gdLst/>
              <a:ahLst/>
              <a:cxnLst/>
              <a:rect r="r" b="b" t="t" l="l"/>
              <a:pathLst>
                <a:path h="349760" w="1236267">
                  <a:moveTo>
                    <a:pt x="203200" y="0"/>
                  </a:moveTo>
                  <a:lnTo>
                    <a:pt x="1236267" y="0"/>
                  </a:lnTo>
                  <a:lnTo>
                    <a:pt x="1033067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57150"/>
              <a:ext cx="1033067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true" rot="-2365107">
            <a:off x="8048961" y="1052453"/>
            <a:ext cx="1248808" cy="847629"/>
          </a:xfrm>
          <a:custGeom>
            <a:avLst/>
            <a:gdLst/>
            <a:ahLst/>
            <a:cxnLst/>
            <a:rect r="r" b="b" t="t" l="l"/>
            <a:pathLst>
              <a:path h="847629" w="1248808">
                <a:moveTo>
                  <a:pt x="0" y="847629"/>
                </a:moveTo>
                <a:lnTo>
                  <a:pt x="1248809" y="847629"/>
                </a:lnTo>
                <a:lnTo>
                  <a:pt x="1248809" y="0"/>
                </a:lnTo>
                <a:lnTo>
                  <a:pt x="0" y="0"/>
                </a:lnTo>
                <a:lnTo>
                  <a:pt x="0" y="8476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31651" y="5200241"/>
            <a:ext cx="4188889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ecutive 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69483" y="5200241"/>
            <a:ext cx="4352423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 by Category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31651" y="6259421"/>
            <a:ext cx="4188889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ect Purpose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69483" y="6259421"/>
            <a:ext cx="4352423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ales by Country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53837" y="5200241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91670" y="5200241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53837" y="6259421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91670" y="6259421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31651" y="7318601"/>
            <a:ext cx="4188889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ey Performance Indicators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31651" y="8373903"/>
            <a:ext cx="4188889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 &amp; Profit Trend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69483" y="7318601"/>
            <a:ext cx="4352423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oduct Performance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53837" y="7318601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53837" y="8373903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91670" y="7318601"/>
            <a:ext cx="448058" cy="38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98650" y="2866910"/>
            <a:ext cx="7545350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2100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 this session, we will review key performance areas, explore user trends, and discuss next steps to support business growth.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69483" y="8378665"/>
            <a:ext cx="5226252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onclusion &amp; Recommendations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91670" y="8378665"/>
            <a:ext cx="448058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</a:pPr>
            <a:r>
              <a:rPr lang="en-US" b="true" sz="21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30254" y="3203413"/>
            <a:ext cx="9805694" cy="2718712"/>
            <a:chOff x="0" y="0"/>
            <a:chExt cx="1261984" cy="34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1984" cy="349896"/>
            </a:xfrm>
            <a:custGeom>
              <a:avLst/>
              <a:gdLst/>
              <a:ahLst/>
              <a:cxnLst/>
              <a:rect r="r" b="b" t="t" l="l"/>
              <a:pathLst>
                <a:path h="349896" w="1261984">
                  <a:moveTo>
                    <a:pt x="1058784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1261984" y="349896"/>
                  </a:lnTo>
                  <a:lnTo>
                    <a:pt x="1058784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57150"/>
              <a:ext cx="1058784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720641">
            <a:off x="8867616" y="-399559"/>
            <a:ext cx="3010301" cy="2153882"/>
            <a:chOff x="0" y="0"/>
            <a:chExt cx="543822" cy="3891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3822" cy="389107"/>
            </a:xfrm>
            <a:custGeom>
              <a:avLst/>
              <a:gdLst/>
              <a:ahLst/>
              <a:cxnLst/>
              <a:rect r="r" b="b" t="t" l="l"/>
              <a:pathLst>
                <a:path h="389107" w="543822">
                  <a:moveTo>
                    <a:pt x="340622" y="0"/>
                  </a:moveTo>
                  <a:lnTo>
                    <a:pt x="0" y="0"/>
                  </a:lnTo>
                  <a:lnTo>
                    <a:pt x="203200" y="389107"/>
                  </a:lnTo>
                  <a:lnTo>
                    <a:pt x="543822" y="389107"/>
                  </a:lnTo>
                  <a:lnTo>
                    <a:pt x="340622" y="0"/>
                  </a:lnTo>
                  <a:close/>
                </a:path>
              </a:pathLst>
            </a:custGeom>
            <a:solidFill>
              <a:srgbClr val="152D5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57150"/>
              <a:ext cx="340622" cy="44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2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16923" y="2978623"/>
            <a:ext cx="7827077" cy="83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6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</a:t>
            </a:r>
            <a:r>
              <a:rPr lang="en-US" sz="6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ecut</a:t>
            </a:r>
            <a:r>
              <a:rPr lang="en-US" sz="6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iv</a:t>
            </a:r>
            <a:r>
              <a:rPr lang="en-US" sz="6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 S</a:t>
            </a:r>
            <a:r>
              <a:rPr lang="en-US" sz="6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7011" y="5469729"/>
            <a:ext cx="11012130" cy="440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2948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948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is project presents a complete business performance dashboard designed for a global electronic retailer.</a:t>
            </a:r>
          </a:p>
          <a:p>
            <a:pPr algn="l">
              <a:lnSpc>
                <a:spcPts val="4422"/>
              </a:lnSpc>
            </a:pPr>
            <a:r>
              <a:rPr lang="en-US" sz="2948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The dashboard provides clear insights into sales, profit, product performance, customer behavior, and geographic trends.</a:t>
            </a:r>
          </a:p>
          <a:p>
            <a:pPr algn="l">
              <a:lnSpc>
                <a:spcPts val="4422"/>
              </a:lnSpc>
            </a:pPr>
            <a:r>
              <a:rPr lang="en-US" sz="2948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Our goal is to help management make faster, more informed, and data-driven decisions</a:t>
            </a:r>
          </a:p>
          <a:p>
            <a:pPr algn="l">
              <a:lnSpc>
                <a:spcPts val="4422"/>
              </a:lnSpc>
            </a:pPr>
            <a:r>
              <a:rPr lang="en-US" sz="2948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using a clean and interactive reporting tool.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7265" y="1096012"/>
            <a:ext cx="478861" cy="442617"/>
            <a:chOff x="0" y="0"/>
            <a:chExt cx="638481" cy="59015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313559" y="61917"/>
              <a:ext cx="324922" cy="466322"/>
              <a:chOff x="0" y="0"/>
              <a:chExt cx="418359" cy="60042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18359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18359">
                    <a:moveTo>
                      <a:pt x="0" y="0"/>
                    </a:moveTo>
                    <a:lnTo>
                      <a:pt x="215159" y="0"/>
                    </a:lnTo>
                    <a:lnTo>
                      <a:pt x="418359" y="300211"/>
                    </a:lnTo>
                    <a:lnTo>
                      <a:pt x="215159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D5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77800" y="-57150"/>
                <a:ext cx="164359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399452" cy="590156"/>
              <a:chOff x="0" y="0"/>
              <a:chExt cx="406400" cy="60042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06400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300211"/>
                    </a:lnTo>
                    <a:lnTo>
                      <a:pt x="203200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629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57150"/>
                <a:ext cx="152400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2217417" y="1047750"/>
            <a:ext cx="2502349" cy="4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Larana Inc.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60663" y="-168679"/>
            <a:ext cx="8583469" cy="5787325"/>
            <a:chOff x="0" y="0"/>
            <a:chExt cx="4546765" cy="30656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46854" cy="3065653"/>
            </a:xfrm>
            <a:custGeom>
              <a:avLst/>
              <a:gdLst/>
              <a:ahLst/>
              <a:cxnLst/>
              <a:rect r="r" b="b" t="t" l="l"/>
              <a:pathLst>
                <a:path h="3065653" w="4546854">
                  <a:moveTo>
                    <a:pt x="3455416" y="0"/>
                  </a:moveTo>
                  <a:lnTo>
                    <a:pt x="3003169" y="783463"/>
                  </a:lnTo>
                  <a:lnTo>
                    <a:pt x="4091813" y="2669286"/>
                  </a:lnTo>
                  <a:lnTo>
                    <a:pt x="4546854" y="2669286"/>
                  </a:lnTo>
                  <a:lnTo>
                    <a:pt x="4546854" y="0"/>
                  </a:lnTo>
                  <a:close/>
                  <a:moveTo>
                    <a:pt x="452247" y="0"/>
                  </a:moveTo>
                  <a:lnTo>
                    <a:pt x="0" y="783463"/>
                  </a:lnTo>
                  <a:lnTo>
                    <a:pt x="1317371" y="3065653"/>
                  </a:lnTo>
                  <a:lnTo>
                    <a:pt x="4047617" y="3065653"/>
                  </a:lnTo>
                  <a:lnTo>
                    <a:pt x="3818890" y="2669413"/>
                  </a:lnTo>
                  <a:lnTo>
                    <a:pt x="2730119" y="783463"/>
                  </a:lnTo>
                  <a:lnTo>
                    <a:pt x="3182493" y="0"/>
                  </a:lnTo>
                  <a:close/>
                </a:path>
              </a:pathLst>
            </a:custGeom>
            <a:blipFill>
              <a:blip r:embed="rId3"/>
              <a:stretch>
                <a:fillRect l="-7381" t="0" r="-7381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936036" y="-172217"/>
            <a:ext cx="2207964" cy="938375"/>
          </a:xfrm>
          <a:custGeom>
            <a:avLst/>
            <a:gdLst/>
            <a:ahLst/>
            <a:cxnLst/>
            <a:rect r="r" b="b" t="t" l="l"/>
            <a:pathLst>
              <a:path h="938375" w="2207964">
                <a:moveTo>
                  <a:pt x="0" y="0"/>
                </a:moveTo>
                <a:lnTo>
                  <a:pt x="2207964" y="0"/>
                </a:lnTo>
                <a:lnTo>
                  <a:pt x="2207964" y="938375"/>
                </a:lnTo>
                <a:lnTo>
                  <a:pt x="0" y="93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2009" r="-2944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9134088" y="1737324"/>
            <a:ext cx="596166" cy="631699"/>
          </a:xfrm>
          <a:custGeom>
            <a:avLst/>
            <a:gdLst/>
            <a:ahLst/>
            <a:cxnLst/>
            <a:rect r="r" b="b" t="t" l="l"/>
            <a:pathLst>
              <a:path h="631699" w="596166">
                <a:moveTo>
                  <a:pt x="0" y="0"/>
                </a:moveTo>
                <a:lnTo>
                  <a:pt x="596166" y="0"/>
                </a:lnTo>
                <a:lnTo>
                  <a:pt x="596166" y="631699"/>
                </a:lnTo>
                <a:lnTo>
                  <a:pt x="0" y="63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675" y="2511898"/>
            <a:ext cx="377711" cy="1425348"/>
          </a:xfrm>
          <a:custGeom>
            <a:avLst/>
            <a:gdLst/>
            <a:ahLst/>
            <a:cxnLst/>
            <a:rect r="r" b="b" t="t" l="l"/>
            <a:pathLst>
              <a:path h="1425348" w="377711">
                <a:moveTo>
                  <a:pt x="0" y="0"/>
                </a:moveTo>
                <a:lnTo>
                  <a:pt x="377711" y="0"/>
                </a:lnTo>
                <a:lnTo>
                  <a:pt x="377711" y="1425349"/>
                </a:lnTo>
                <a:lnTo>
                  <a:pt x="0" y="142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99328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08257" y="9090974"/>
            <a:ext cx="7315200" cy="2322576"/>
          </a:xfrm>
          <a:custGeom>
            <a:avLst/>
            <a:gdLst/>
            <a:ahLst/>
            <a:cxnLst/>
            <a:rect r="r" b="b" t="t" l="l"/>
            <a:pathLst>
              <a:path h="2322576" w="7315200">
                <a:moveTo>
                  <a:pt x="0" y="0"/>
                </a:moveTo>
                <a:lnTo>
                  <a:pt x="7315200" y="0"/>
                </a:lnTo>
                <a:lnTo>
                  <a:pt x="7315200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0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0E0E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9728">
            <a:off x="13884706" y="-1236708"/>
            <a:ext cx="6234801" cy="5930854"/>
          </a:xfrm>
          <a:custGeom>
            <a:avLst/>
            <a:gdLst/>
            <a:ahLst/>
            <a:cxnLst/>
            <a:rect r="r" b="b" t="t" l="l"/>
            <a:pathLst>
              <a:path h="5930854" w="6234801">
                <a:moveTo>
                  <a:pt x="0" y="0"/>
                </a:moveTo>
                <a:lnTo>
                  <a:pt x="6234801" y="0"/>
                </a:lnTo>
                <a:lnTo>
                  <a:pt x="6234801" y="5930854"/>
                </a:lnTo>
                <a:lnTo>
                  <a:pt x="0" y="5930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65925" y="1028700"/>
            <a:ext cx="5106617" cy="4735914"/>
          </a:xfrm>
          <a:custGeom>
            <a:avLst/>
            <a:gdLst/>
            <a:ahLst/>
            <a:cxnLst/>
            <a:rect r="r" b="b" t="t" l="l"/>
            <a:pathLst>
              <a:path h="4735914" w="5106617">
                <a:moveTo>
                  <a:pt x="0" y="0"/>
                </a:moveTo>
                <a:lnTo>
                  <a:pt x="5106617" y="0"/>
                </a:lnTo>
                <a:lnTo>
                  <a:pt x="5106617" y="4735914"/>
                </a:lnTo>
                <a:lnTo>
                  <a:pt x="0" y="473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7880133" cy="201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7738" b="true">
                <a:solidFill>
                  <a:srgbClr val="091E69"/>
                </a:solidFill>
                <a:latin typeface="Saira Bold"/>
                <a:ea typeface="Saira Bold"/>
                <a:cs typeface="Saira Bold"/>
                <a:sym typeface="Saira Bold"/>
              </a:rPr>
              <a:t>PROJECT PURPOSE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9473" y="3339507"/>
            <a:ext cx="9909260" cy="443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The purpose of this project is to build a dashboard that summarizes the company’s overall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performance in a simple and visual way.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We focused on four main areas: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• Sales and profit trends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• Product-level performance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• Customer and store insights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31040"/>
                </a:solidFill>
                <a:latin typeface="Saira"/>
                <a:ea typeface="Saira"/>
                <a:cs typeface="Saira"/>
                <a:sym typeface="Saira"/>
              </a:rPr>
              <a:t>• Geographic performance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694348"/>
            <a:ext cx="1318401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dashboard supports decision-makers by identifying strengths, weaknesses, and</a:t>
            </a:r>
          </a:p>
          <a:p>
            <a:pPr algn="ctr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opportunities for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1614" y="-104671"/>
            <a:ext cx="9220560" cy="7537029"/>
            <a:chOff x="0" y="0"/>
            <a:chExt cx="5092535" cy="4162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2573" cy="4162679"/>
            </a:xfrm>
            <a:custGeom>
              <a:avLst/>
              <a:gdLst/>
              <a:ahLst/>
              <a:cxnLst/>
              <a:rect r="r" b="b" t="t" l="l"/>
              <a:pathLst>
                <a:path h="4162679" w="5092573">
                  <a:moveTo>
                    <a:pt x="4093337" y="0"/>
                  </a:moveTo>
                  <a:lnTo>
                    <a:pt x="3010535" y="1875155"/>
                  </a:lnTo>
                  <a:lnTo>
                    <a:pt x="4102100" y="3765423"/>
                  </a:lnTo>
                  <a:lnTo>
                    <a:pt x="5092573" y="3765423"/>
                  </a:lnTo>
                  <a:lnTo>
                    <a:pt x="5092573" y="0"/>
                  </a:lnTo>
                  <a:close/>
                  <a:moveTo>
                    <a:pt x="1082675" y="0"/>
                  </a:moveTo>
                  <a:lnTo>
                    <a:pt x="0" y="1875155"/>
                  </a:lnTo>
                  <a:lnTo>
                    <a:pt x="1320800" y="4162679"/>
                  </a:lnTo>
                  <a:lnTo>
                    <a:pt x="4057777" y="4162679"/>
                  </a:lnTo>
                  <a:lnTo>
                    <a:pt x="3828288" y="3765423"/>
                  </a:lnTo>
                  <a:lnTo>
                    <a:pt x="2737104" y="1875155"/>
                  </a:lnTo>
                  <a:lnTo>
                    <a:pt x="3819652" y="0"/>
                  </a:lnTo>
                  <a:close/>
                </a:path>
              </a:pathLst>
            </a:custGeom>
            <a:blipFill>
              <a:blip r:embed="rId2"/>
              <a:stretch>
                <a:fillRect l="0" t="-30577" r="0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25983" y="8002605"/>
            <a:ext cx="15436034" cy="2119948"/>
          </a:xfrm>
          <a:custGeom>
            <a:avLst/>
            <a:gdLst/>
            <a:ahLst/>
            <a:cxnLst/>
            <a:rect r="r" b="b" t="t" l="l"/>
            <a:pathLst>
              <a:path h="2119948" w="15436034">
                <a:moveTo>
                  <a:pt x="0" y="0"/>
                </a:moveTo>
                <a:lnTo>
                  <a:pt x="15436034" y="0"/>
                </a:lnTo>
                <a:lnTo>
                  <a:pt x="15436034" y="2119948"/>
                </a:lnTo>
                <a:lnTo>
                  <a:pt x="0" y="2119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730" t="-74999" r="-1750" b="-3981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819" y="2269843"/>
            <a:ext cx="7986796" cy="364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  <a:spcBef>
                <a:spcPct val="0"/>
              </a:spcBef>
            </a:pPr>
            <a:r>
              <a:rPr lang="en-US" b="true" sz="278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The KPI section provides a quick view of the business health:</a:t>
            </a:r>
          </a:p>
          <a:p>
            <a:pPr algn="l">
              <a:lnSpc>
                <a:spcPts val="4175"/>
              </a:lnSpc>
              <a:spcBef>
                <a:spcPct val="0"/>
              </a:spcBef>
            </a:pPr>
            <a:r>
              <a:rPr lang="en-US" b="true" sz="278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• Total Sales: $56M</a:t>
            </a:r>
          </a:p>
          <a:p>
            <a:pPr algn="l">
              <a:lnSpc>
                <a:spcPts val="4175"/>
              </a:lnSpc>
              <a:spcBef>
                <a:spcPct val="0"/>
              </a:spcBef>
            </a:pPr>
            <a:r>
              <a:rPr lang="en-US" b="true" sz="278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• Total Profit: $33M</a:t>
            </a:r>
          </a:p>
          <a:p>
            <a:pPr algn="l">
              <a:lnSpc>
                <a:spcPts val="4175"/>
              </a:lnSpc>
              <a:spcBef>
                <a:spcPct val="0"/>
              </a:spcBef>
            </a:pPr>
            <a:r>
              <a:rPr lang="en-US" b="true" sz="278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• Profit Margin: 55%</a:t>
            </a:r>
          </a:p>
          <a:p>
            <a:pPr algn="l">
              <a:lnSpc>
                <a:spcPts val="4175"/>
              </a:lnSpc>
              <a:spcBef>
                <a:spcPct val="0"/>
              </a:spcBef>
            </a:pPr>
            <a:r>
              <a:rPr lang="en-US" b="true" sz="278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• Total Orders: 26K</a:t>
            </a:r>
          </a:p>
          <a:p>
            <a:pPr algn="l">
              <a:lnSpc>
                <a:spcPts val="4175"/>
              </a:lnSpc>
              <a:spcBef>
                <a:spcPct val="0"/>
              </a:spcBef>
            </a:pPr>
            <a:r>
              <a:rPr lang="en-US" b="true" sz="278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• Average Delivery Time: 5 days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5983" y="7162800"/>
            <a:ext cx="14147081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These KPIs show solid financial performance, strong demand, and efficient operations.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819" y="1369688"/>
            <a:ext cx="5811715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199">
                <a:solidFill>
                  <a:srgbClr val="141414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3199">
                <a:solidFill>
                  <a:srgbClr val="141414"/>
                </a:solidFill>
                <a:latin typeface="Inter Bold"/>
                <a:ea typeface="Inter Bold"/>
                <a:cs typeface="Inter Bold"/>
                <a:sym typeface="Inter Bold"/>
              </a:rPr>
              <a:t>ey Performance Indicators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5775" y="5950070"/>
            <a:ext cx="16350275" cy="264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7"/>
              </a:lnSpc>
            </a:pPr>
            <a:r>
              <a:rPr lang="en-US" sz="3564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3564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e trend analysis shows monthly changes in sales and profit.</a:t>
            </a:r>
          </a:p>
          <a:p>
            <a:pPr algn="l">
              <a:lnSpc>
                <a:spcPts val="5347"/>
              </a:lnSpc>
            </a:pPr>
            <a:r>
              <a:rPr lang="en-US" sz="3564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We observed seasonal peaks and dips, with profit closely following sales.</a:t>
            </a:r>
          </a:p>
          <a:p>
            <a:pPr algn="l">
              <a:lnSpc>
                <a:spcPts val="5347"/>
              </a:lnSpc>
            </a:pPr>
            <a:r>
              <a:rPr lang="en-US" sz="3564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This indicates strong cost control and consistent profitability.</a:t>
            </a:r>
          </a:p>
          <a:p>
            <a:pPr algn="l">
              <a:lnSpc>
                <a:spcPts val="5347"/>
              </a:lnSpc>
            </a:pPr>
            <a:r>
              <a:rPr lang="en-US" sz="3564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The rising trend in recent months suggests potential for further growth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34088" y="1737324"/>
            <a:ext cx="596166" cy="631699"/>
          </a:xfrm>
          <a:custGeom>
            <a:avLst/>
            <a:gdLst/>
            <a:ahLst/>
            <a:cxnLst/>
            <a:rect r="r" b="b" t="t" l="l"/>
            <a:pathLst>
              <a:path h="631699" w="596166">
                <a:moveTo>
                  <a:pt x="0" y="0"/>
                </a:moveTo>
                <a:lnTo>
                  <a:pt x="596166" y="0"/>
                </a:lnTo>
                <a:lnTo>
                  <a:pt x="596166" y="631699"/>
                </a:lnTo>
                <a:lnTo>
                  <a:pt x="0" y="631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675" y="2511898"/>
            <a:ext cx="377711" cy="1425348"/>
          </a:xfrm>
          <a:custGeom>
            <a:avLst/>
            <a:gdLst/>
            <a:ahLst/>
            <a:cxnLst/>
            <a:rect r="r" b="b" t="t" l="l"/>
            <a:pathLst>
              <a:path h="1425348" w="377711">
                <a:moveTo>
                  <a:pt x="0" y="0"/>
                </a:moveTo>
                <a:lnTo>
                  <a:pt x="377711" y="0"/>
                </a:lnTo>
                <a:lnTo>
                  <a:pt x="377711" y="1425349"/>
                </a:lnTo>
                <a:lnTo>
                  <a:pt x="0" y="14253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99328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8257" y="9090974"/>
            <a:ext cx="7315200" cy="2322576"/>
          </a:xfrm>
          <a:custGeom>
            <a:avLst/>
            <a:gdLst/>
            <a:ahLst/>
            <a:cxnLst/>
            <a:rect r="r" b="b" t="t" l="l"/>
            <a:pathLst>
              <a:path h="2322576" w="7315200">
                <a:moveTo>
                  <a:pt x="0" y="0"/>
                </a:moveTo>
                <a:lnTo>
                  <a:pt x="7315200" y="0"/>
                </a:lnTo>
                <a:lnTo>
                  <a:pt x="7315200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675" y="25820"/>
            <a:ext cx="18147004" cy="4396439"/>
          </a:xfrm>
          <a:custGeom>
            <a:avLst/>
            <a:gdLst/>
            <a:ahLst/>
            <a:cxnLst/>
            <a:rect r="r" b="b" t="t" l="l"/>
            <a:pathLst>
              <a:path h="4396439" w="18147004">
                <a:moveTo>
                  <a:pt x="0" y="0"/>
                </a:moveTo>
                <a:lnTo>
                  <a:pt x="18147004" y="0"/>
                </a:lnTo>
                <a:lnTo>
                  <a:pt x="18147004" y="4396439"/>
                </a:lnTo>
                <a:lnTo>
                  <a:pt x="0" y="4396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661" t="-100181" r="-1784" b="-11938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5775" y="5057775"/>
            <a:ext cx="5641030" cy="74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2"/>
              </a:lnSpc>
              <a:spcBef>
                <a:spcPct val="0"/>
              </a:spcBef>
            </a:pPr>
            <a:r>
              <a:rPr lang="en-US" b="true" sz="4359">
                <a:solidFill>
                  <a:srgbClr val="3B3B3B"/>
                </a:solidFill>
                <a:latin typeface="DM Sans Bold"/>
                <a:ea typeface="DM Sans Bold"/>
                <a:cs typeface="DM Sans Bold"/>
                <a:sym typeface="DM Sans Bold"/>
              </a:rPr>
              <a:t> Sales &amp; Profit Trend 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8257" y="9090974"/>
            <a:ext cx="7315200" cy="2322576"/>
          </a:xfrm>
          <a:custGeom>
            <a:avLst/>
            <a:gdLst/>
            <a:ahLst/>
            <a:cxnLst/>
            <a:rect r="r" b="b" t="t" l="l"/>
            <a:pathLst>
              <a:path h="2322576" w="7315200">
                <a:moveTo>
                  <a:pt x="0" y="0"/>
                </a:moveTo>
                <a:lnTo>
                  <a:pt x="7315200" y="0"/>
                </a:lnTo>
                <a:lnTo>
                  <a:pt x="7315200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4599" y="2920247"/>
            <a:ext cx="285126" cy="285126"/>
            <a:chOff x="0" y="0"/>
            <a:chExt cx="75095" cy="75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095" cy="75095"/>
            </a:xfrm>
            <a:custGeom>
              <a:avLst/>
              <a:gdLst/>
              <a:ahLst/>
              <a:cxnLst/>
              <a:rect r="r" b="b" t="t" l="l"/>
              <a:pathLst>
                <a:path h="75095" w="75095">
                  <a:moveTo>
                    <a:pt x="0" y="0"/>
                  </a:moveTo>
                  <a:lnTo>
                    <a:pt x="75095" y="0"/>
                  </a:lnTo>
                  <a:lnTo>
                    <a:pt x="75095" y="75095"/>
                  </a:lnTo>
                  <a:lnTo>
                    <a:pt x="0" y="750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5095" cy="1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06538" y="-149255"/>
            <a:ext cx="3781462" cy="1177955"/>
          </a:xfrm>
          <a:custGeom>
            <a:avLst/>
            <a:gdLst/>
            <a:ahLst/>
            <a:cxnLst/>
            <a:rect r="r" b="b" t="t" l="l"/>
            <a:pathLst>
              <a:path h="1177955" w="3781462">
                <a:moveTo>
                  <a:pt x="0" y="0"/>
                </a:moveTo>
                <a:lnTo>
                  <a:pt x="3781462" y="0"/>
                </a:lnTo>
                <a:lnTo>
                  <a:pt x="3781462" y="1177955"/>
                </a:lnTo>
                <a:lnTo>
                  <a:pt x="0" y="1177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1694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-768074" y="9008884"/>
            <a:ext cx="2157577" cy="2852994"/>
          </a:xfrm>
          <a:custGeom>
            <a:avLst/>
            <a:gdLst/>
            <a:ahLst/>
            <a:cxnLst/>
            <a:rect r="r" b="b" t="t" l="l"/>
            <a:pathLst>
              <a:path h="2852994" w="2157577">
                <a:moveTo>
                  <a:pt x="0" y="0"/>
                </a:moveTo>
                <a:lnTo>
                  <a:pt x="2157577" y="0"/>
                </a:lnTo>
                <a:lnTo>
                  <a:pt x="2157577" y="2852994"/>
                </a:lnTo>
                <a:lnTo>
                  <a:pt x="0" y="28529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1762652">
            <a:off x="-828043" y="-500120"/>
            <a:ext cx="1572200" cy="1572200"/>
          </a:xfrm>
          <a:custGeom>
            <a:avLst/>
            <a:gdLst/>
            <a:ahLst/>
            <a:cxnLst/>
            <a:rect r="r" b="b" t="t" l="l"/>
            <a:pathLst>
              <a:path h="1572200" w="1572200">
                <a:moveTo>
                  <a:pt x="0" y="0"/>
                </a:moveTo>
                <a:lnTo>
                  <a:pt x="1572200" y="0"/>
                </a:lnTo>
                <a:lnTo>
                  <a:pt x="1572200" y="1572199"/>
                </a:lnTo>
                <a:lnTo>
                  <a:pt x="0" y="15721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69814" y="345816"/>
            <a:ext cx="7565448" cy="4015783"/>
          </a:xfrm>
          <a:custGeom>
            <a:avLst/>
            <a:gdLst/>
            <a:ahLst/>
            <a:cxnLst/>
            <a:rect r="r" b="b" t="t" l="l"/>
            <a:pathLst>
              <a:path h="4015783" w="7565448">
                <a:moveTo>
                  <a:pt x="0" y="0"/>
                </a:moveTo>
                <a:lnTo>
                  <a:pt x="7565448" y="0"/>
                </a:lnTo>
                <a:lnTo>
                  <a:pt x="7565448" y="4015783"/>
                </a:lnTo>
                <a:lnTo>
                  <a:pt x="0" y="40157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6651" t="-100869" r="-9350" b="-10751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25822" y="2952662"/>
            <a:ext cx="1329653" cy="22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Sales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89503" y="4498531"/>
            <a:ext cx="7611934" cy="3985494"/>
          </a:xfrm>
          <a:custGeom>
            <a:avLst/>
            <a:gdLst/>
            <a:ahLst/>
            <a:cxnLst/>
            <a:rect r="r" b="b" t="t" l="l"/>
            <a:pathLst>
              <a:path h="3985494" w="7611934">
                <a:moveTo>
                  <a:pt x="0" y="0"/>
                </a:moveTo>
                <a:lnTo>
                  <a:pt x="7611934" y="0"/>
                </a:lnTo>
                <a:lnTo>
                  <a:pt x="7611934" y="3985493"/>
                </a:lnTo>
                <a:lnTo>
                  <a:pt x="0" y="39854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4438" t="-200306" r="-110403" b="-1085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4599" y="285979"/>
            <a:ext cx="7754497" cy="4075619"/>
          </a:xfrm>
          <a:custGeom>
            <a:avLst/>
            <a:gdLst/>
            <a:ahLst/>
            <a:cxnLst/>
            <a:rect r="r" b="b" t="t" l="l"/>
            <a:pathLst>
              <a:path h="4075619" w="7754497">
                <a:moveTo>
                  <a:pt x="0" y="0"/>
                </a:moveTo>
                <a:lnTo>
                  <a:pt x="7754497" y="0"/>
                </a:lnTo>
                <a:lnTo>
                  <a:pt x="7754497" y="4075620"/>
                </a:lnTo>
                <a:lnTo>
                  <a:pt x="0" y="407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2876" t="-100553" r="-108548" b="-1051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69814" y="4529812"/>
            <a:ext cx="7560557" cy="3922931"/>
          </a:xfrm>
          <a:custGeom>
            <a:avLst/>
            <a:gdLst/>
            <a:ahLst/>
            <a:cxnLst/>
            <a:rect r="r" b="b" t="t" l="l"/>
            <a:pathLst>
              <a:path h="3922931" w="7560557">
                <a:moveTo>
                  <a:pt x="0" y="0"/>
                </a:moveTo>
                <a:lnTo>
                  <a:pt x="7560557" y="0"/>
                </a:lnTo>
                <a:lnTo>
                  <a:pt x="7560557" y="3922931"/>
                </a:lnTo>
                <a:lnTo>
                  <a:pt x="0" y="39229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4910" t="-202348" r="-9931" b="-1164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9503" y="8674524"/>
            <a:ext cx="15540867" cy="13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When looking at product categories, Computers drive the highest sales with a significant gap.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Home Appliances and Cameras also contribute well but remain lower.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breakdown helps the company understand which product categories lead revenue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where to focus marketing or inventory planning.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08257" y="9090974"/>
            <a:ext cx="7315200" cy="2322576"/>
          </a:xfrm>
          <a:custGeom>
            <a:avLst/>
            <a:gdLst/>
            <a:ahLst/>
            <a:cxnLst/>
            <a:rect r="r" b="b" t="t" l="l"/>
            <a:pathLst>
              <a:path h="2322576" w="7315200">
                <a:moveTo>
                  <a:pt x="0" y="0"/>
                </a:moveTo>
                <a:lnTo>
                  <a:pt x="7315200" y="0"/>
                </a:lnTo>
                <a:lnTo>
                  <a:pt x="7315200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4599" y="2920247"/>
            <a:ext cx="285126" cy="285126"/>
            <a:chOff x="0" y="0"/>
            <a:chExt cx="75095" cy="75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095" cy="75095"/>
            </a:xfrm>
            <a:custGeom>
              <a:avLst/>
              <a:gdLst/>
              <a:ahLst/>
              <a:cxnLst/>
              <a:rect r="r" b="b" t="t" l="l"/>
              <a:pathLst>
                <a:path h="75095" w="75095">
                  <a:moveTo>
                    <a:pt x="0" y="0"/>
                  </a:moveTo>
                  <a:lnTo>
                    <a:pt x="75095" y="0"/>
                  </a:lnTo>
                  <a:lnTo>
                    <a:pt x="75095" y="75095"/>
                  </a:lnTo>
                  <a:lnTo>
                    <a:pt x="0" y="7509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5095" cy="1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06538" y="-149255"/>
            <a:ext cx="3781462" cy="1177955"/>
          </a:xfrm>
          <a:custGeom>
            <a:avLst/>
            <a:gdLst/>
            <a:ahLst/>
            <a:cxnLst/>
            <a:rect r="r" b="b" t="t" l="l"/>
            <a:pathLst>
              <a:path h="1177955" w="3781462">
                <a:moveTo>
                  <a:pt x="0" y="0"/>
                </a:moveTo>
                <a:lnTo>
                  <a:pt x="3781462" y="0"/>
                </a:lnTo>
                <a:lnTo>
                  <a:pt x="3781462" y="1177955"/>
                </a:lnTo>
                <a:lnTo>
                  <a:pt x="0" y="1177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1694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-768074" y="9008884"/>
            <a:ext cx="2157577" cy="2852994"/>
          </a:xfrm>
          <a:custGeom>
            <a:avLst/>
            <a:gdLst/>
            <a:ahLst/>
            <a:cxnLst/>
            <a:rect r="r" b="b" t="t" l="l"/>
            <a:pathLst>
              <a:path h="2852994" w="2157577">
                <a:moveTo>
                  <a:pt x="0" y="0"/>
                </a:moveTo>
                <a:lnTo>
                  <a:pt x="2157577" y="0"/>
                </a:lnTo>
                <a:lnTo>
                  <a:pt x="2157577" y="2852994"/>
                </a:lnTo>
                <a:lnTo>
                  <a:pt x="0" y="28529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1762652">
            <a:off x="-828043" y="-500120"/>
            <a:ext cx="1572200" cy="1572200"/>
          </a:xfrm>
          <a:custGeom>
            <a:avLst/>
            <a:gdLst/>
            <a:ahLst/>
            <a:cxnLst/>
            <a:rect r="r" b="b" t="t" l="l"/>
            <a:pathLst>
              <a:path h="1572200" w="1572200">
                <a:moveTo>
                  <a:pt x="0" y="0"/>
                </a:moveTo>
                <a:lnTo>
                  <a:pt x="1572200" y="0"/>
                </a:lnTo>
                <a:lnTo>
                  <a:pt x="1572200" y="1572199"/>
                </a:lnTo>
                <a:lnTo>
                  <a:pt x="0" y="15721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2746" y="1356623"/>
            <a:ext cx="8938553" cy="5077770"/>
          </a:xfrm>
          <a:custGeom>
            <a:avLst/>
            <a:gdLst/>
            <a:ahLst/>
            <a:cxnLst/>
            <a:rect r="r" b="b" t="t" l="l"/>
            <a:pathLst>
              <a:path h="5077770" w="8938553">
                <a:moveTo>
                  <a:pt x="0" y="0"/>
                </a:moveTo>
                <a:lnTo>
                  <a:pt x="8938553" y="0"/>
                </a:lnTo>
                <a:lnTo>
                  <a:pt x="8938553" y="5077769"/>
                </a:lnTo>
                <a:lnTo>
                  <a:pt x="0" y="50777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515" t="-173251" r="-107026" b="-808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25822" y="2952662"/>
            <a:ext cx="1329653" cy="22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Sales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784" y="1356623"/>
            <a:ext cx="9197265" cy="5077770"/>
          </a:xfrm>
          <a:custGeom>
            <a:avLst/>
            <a:gdLst/>
            <a:ahLst/>
            <a:cxnLst/>
            <a:rect r="r" b="b" t="t" l="l"/>
            <a:pathLst>
              <a:path h="5077770" w="9197265">
                <a:moveTo>
                  <a:pt x="0" y="0"/>
                </a:moveTo>
                <a:lnTo>
                  <a:pt x="9197264" y="0"/>
                </a:lnTo>
                <a:lnTo>
                  <a:pt x="9197264" y="5077769"/>
                </a:lnTo>
                <a:lnTo>
                  <a:pt x="0" y="50777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3437" t="-176553" r="-2741" b="-767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6645899"/>
            <a:ext cx="9144000" cy="2309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5"/>
              </a:lnSpc>
              <a:spcBef>
                <a:spcPct val="0"/>
              </a:spcBef>
            </a:pPr>
            <a:r>
              <a:rPr lang="en-US" b="true" sz="413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The geographic breakdown shows the United States as the strongest market with around</a:t>
            </a:r>
          </a:p>
          <a:p>
            <a:pPr algn="ctr">
              <a:lnSpc>
                <a:spcPts val="4545"/>
              </a:lnSpc>
              <a:spcBef>
                <a:spcPct val="0"/>
              </a:spcBef>
            </a:pPr>
            <a:r>
              <a:rPr lang="en-US" b="true" sz="413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$24M in sales.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2746" y="6913119"/>
            <a:ext cx="8775254" cy="217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Online sales also contribute heavily, reaching $11M.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United Kingdom, Germany, and Canada show stable mid-level performance.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Countries like Italy and France show lower sales, indicating areas for market improvement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 targeted strategies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80189" y="9782175"/>
            <a:ext cx="3044602" cy="768360"/>
          </a:xfrm>
          <a:custGeom>
            <a:avLst/>
            <a:gdLst/>
            <a:ahLst/>
            <a:cxnLst/>
            <a:rect r="r" b="b" t="t" l="l"/>
            <a:pathLst>
              <a:path h="768360" w="3044602">
                <a:moveTo>
                  <a:pt x="0" y="0"/>
                </a:moveTo>
                <a:lnTo>
                  <a:pt x="3044603" y="0"/>
                </a:lnTo>
                <a:lnTo>
                  <a:pt x="3044603" y="768360"/>
                </a:lnTo>
                <a:lnTo>
                  <a:pt x="0" y="768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256622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155381" y="-309990"/>
            <a:ext cx="2207964" cy="1869675"/>
          </a:xfrm>
          <a:custGeom>
            <a:avLst/>
            <a:gdLst/>
            <a:ahLst/>
            <a:cxnLst/>
            <a:rect r="r" b="b" t="t" l="l"/>
            <a:pathLst>
              <a:path h="1869675" w="2207964">
                <a:moveTo>
                  <a:pt x="0" y="0"/>
                </a:moveTo>
                <a:lnTo>
                  <a:pt x="2207964" y="0"/>
                </a:lnTo>
                <a:lnTo>
                  <a:pt x="2207964" y="1869674"/>
                </a:lnTo>
                <a:lnTo>
                  <a:pt x="0" y="1869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6557" r="-2944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89859" y="380205"/>
            <a:ext cx="504508" cy="722567"/>
          </a:xfrm>
          <a:custGeom>
            <a:avLst/>
            <a:gdLst/>
            <a:ahLst/>
            <a:cxnLst/>
            <a:rect r="r" b="b" t="t" l="l"/>
            <a:pathLst>
              <a:path h="722567" w="504508">
                <a:moveTo>
                  <a:pt x="0" y="0"/>
                </a:moveTo>
                <a:lnTo>
                  <a:pt x="504507" y="0"/>
                </a:lnTo>
                <a:lnTo>
                  <a:pt x="504507" y="722567"/>
                </a:lnTo>
                <a:lnTo>
                  <a:pt x="0" y="72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6471" t="-79072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08257" y="9090974"/>
            <a:ext cx="7315200" cy="2322576"/>
          </a:xfrm>
          <a:custGeom>
            <a:avLst/>
            <a:gdLst/>
            <a:ahLst/>
            <a:cxnLst/>
            <a:rect r="r" b="b" t="t" l="l"/>
            <a:pathLst>
              <a:path h="2322576" w="7315200">
                <a:moveTo>
                  <a:pt x="0" y="0"/>
                </a:moveTo>
                <a:lnTo>
                  <a:pt x="7315200" y="0"/>
                </a:lnTo>
                <a:lnTo>
                  <a:pt x="7315200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0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4366" y="1559684"/>
            <a:ext cx="17144541" cy="4462278"/>
          </a:xfrm>
          <a:custGeom>
            <a:avLst/>
            <a:gdLst/>
            <a:ahLst/>
            <a:cxnLst/>
            <a:rect r="r" b="b" t="t" l="l"/>
            <a:pathLst>
              <a:path h="4462278" w="17144541">
                <a:moveTo>
                  <a:pt x="0" y="0"/>
                </a:moveTo>
                <a:lnTo>
                  <a:pt x="17144541" y="0"/>
                </a:lnTo>
                <a:lnTo>
                  <a:pt x="17144541" y="4462278"/>
                </a:lnTo>
                <a:lnTo>
                  <a:pt x="0" y="44622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194" t="-88998" r="-984" b="-11268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4366" y="6404810"/>
            <a:ext cx="5725400" cy="240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9"/>
              </a:lnSpc>
              <a:spcBef>
                <a:spcPct val="0"/>
              </a:spcBef>
            </a:pPr>
            <a:r>
              <a:rPr lang="en-US" sz="324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Customer analysis shows sales almost evenly split between male and female customers.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8896" y="6385760"/>
            <a:ext cx="5080948" cy="2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lang="en-US" sz="3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nior and Adult age groups generate the highest sales.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8973" y="6395285"/>
            <a:ext cx="5599934" cy="26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Most deliveries are on time, but improvements are needed for slow and very late deliveries.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30254" y="3203413"/>
            <a:ext cx="9805694" cy="2718712"/>
            <a:chOff x="0" y="0"/>
            <a:chExt cx="1261984" cy="34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1984" cy="349896"/>
            </a:xfrm>
            <a:custGeom>
              <a:avLst/>
              <a:gdLst/>
              <a:ahLst/>
              <a:cxnLst/>
              <a:rect r="r" b="b" t="t" l="l"/>
              <a:pathLst>
                <a:path h="349896" w="1261984">
                  <a:moveTo>
                    <a:pt x="1058784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1261984" y="349896"/>
                  </a:lnTo>
                  <a:lnTo>
                    <a:pt x="1058784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57150"/>
              <a:ext cx="1058784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720641">
            <a:off x="8867616" y="-399559"/>
            <a:ext cx="3010301" cy="2153882"/>
            <a:chOff x="0" y="0"/>
            <a:chExt cx="543822" cy="3891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3822" cy="389107"/>
            </a:xfrm>
            <a:custGeom>
              <a:avLst/>
              <a:gdLst/>
              <a:ahLst/>
              <a:cxnLst/>
              <a:rect r="r" b="b" t="t" l="l"/>
              <a:pathLst>
                <a:path h="389107" w="543822">
                  <a:moveTo>
                    <a:pt x="340622" y="0"/>
                  </a:moveTo>
                  <a:lnTo>
                    <a:pt x="0" y="0"/>
                  </a:lnTo>
                  <a:lnTo>
                    <a:pt x="203200" y="389107"/>
                  </a:lnTo>
                  <a:lnTo>
                    <a:pt x="543822" y="389107"/>
                  </a:lnTo>
                  <a:lnTo>
                    <a:pt x="340622" y="0"/>
                  </a:lnTo>
                  <a:close/>
                </a:path>
              </a:pathLst>
            </a:custGeom>
            <a:solidFill>
              <a:srgbClr val="152D5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57150"/>
              <a:ext cx="340622" cy="44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2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73782" y="2738986"/>
            <a:ext cx="7827077" cy="167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 &amp; 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commenda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ion</a:t>
            </a:r>
            <a:r>
              <a:rPr lang="en-US" sz="6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4386" y="6198350"/>
            <a:ext cx="17376357" cy="360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Overall,</a:t>
            </a:r>
            <a:r>
              <a:rPr lang="en-US" sz="27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 the dashboard shows strong business performance supported by high demand products, loyal customer segments, and strong geographic markets.</a:t>
            </a:r>
          </a:p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We provide three main recommendations:</a:t>
            </a:r>
          </a:p>
          <a:p>
            <a:pPr algn="l">
              <a:lnSpc>
                <a:spcPts val="3449"/>
              </a:lnSpc>
            </a:pPr>
            <a:r>
              <a:rPr lang="en-US" b="true" sz="2299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1.</a:t>
            </a:r>
            <a:r>
              <a:rPr lang="en-US" sz="22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 Strengthen focus on top-performing product lines, especially desktops and computer-related items.</a:t>
            </a:r>
          </a:p>
          <a:p>
            <a:pPr algn="l">
              <a:lnSpc>
                <a:spcPts val="3449"/>
              </a:lnSpc>
            </a:pPr>
            <a:r>
              <a:rPr lang="en-US" b="true" sz="2299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2.</a:t>
            </a:r>
            <a:r>
              <a:rPr lang="en-US" sz="22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 Increase investment in high-performing markets and online channels.</a:t>
            </a:r>
          </a:p>
          <a:p>
            <a:pPr algn="l">
              <a:lnSpc>
                <a:spcPts val="3449"/>
              </a:lnSpc>
            </a:pPr>
            <a:r>
              <a:rPr lang="en-US" b="true" sz="2299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3.</a:t>
            </a:r>
            <a:r>
              <a:rPr lang="en-US" sz="22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 Improve delivery operations to reduce delays and enhance customer satisfaction.</a:t>
            </a:r>
          </a:p>
          <a:p>
            <a:pPr algn="l">
              <a:lnSpc>
                <a:spcPts val="3449"/>
              </a:lnSpc>
            </a:pPr>
          </a:p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This dashboard gives the company a powerful foundation for strategic decision-making and future planning.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7265" y="1096012"/>
            <a:ext cx="478861" cy="442617"/>
            <a:chOff x="0" y="0"/>
            <a:chExt cx="638481" cy="59015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313559" y="61917"/>
              <a:ext cx="324922" cy="466322"/>
              <a:chOff x="0" y="0"/>
              <a:chExt cx="418359" cy="60042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18359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18359">
                    <a:moveTo>
                      <a:pt x="0" y="0"/>
                    </a:moveTo>
                    <a:lnTo>
                      <a:pt x="215159" y="0"/>
                    </a:lnTo>
                    <a:lnTo>
                      <a:pt x="418359" y="300211"/>
                    </a:lnTo>
                    <a:lnTo>
                      <a:pt x="215159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D5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77800" y="-57150"/>
                <a:ext cx="164359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399452" cy="590156"/>
              <a:chOff x="0" y="0"/>
              <a:chExt cx="406400" cy="60042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06400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300211"/>
                    </a:lnTo>
                    <a:lnTo>
                      <a:pt x="203200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629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57150"/>
                <a:ext cx="152400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2217417" y="1047750"/>
            <a:ext cx="2502349" cy="4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Larana Inc.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60663" y="-168679"/>
            <a:ext cx="8583469" cy="5787325"/>
            <a:chOff x="0" y="0"/>
            <a:chExt cx="4546765" cy="30656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46854" cy="3065653"/>
            </a:xfrm>
            <a:custGeom>
              <a:avLst/>
              <a:gdLst/>
              <a:ahLst/>
              <a:cxnLst/>
              <a:rect r="r" b="b" t="t" l="l"/>
              <a:pathLst>
                <a:path h="3065653" w="4546854">
                  <a:moveTo>
                    <a:pt x="3455416" y="0"/>
                  </a:moveTo>
                  <a:lnTo>
                    <a:pt x="3003169" y="783463"/>
                  </a:lnTo>
                  <a:lnTo>
                    <a:pt x="4091813" y="2669286"/>
                  </a:lnTo>
                  <a:lnTo>
                    <a:pt x="4546854" y="2669286"/>
                  </a:lnTo>
                  <a:lnTo>
                    <a:pt x="4546854" y="0"/>
                  </a:lnTo>
                  <a:close/>
                  <a:moveTo>
                    <a:pt x="452247" y="0"/>
                  </a:moveTo>
                  <a:lnTo>
                    <a:pt x="0" y="783463"/>
                  </a:lnTo>
                  <a:lnTo>
                    <a:pt x="1317371" y="3065653"/>
                  </a:lnTo>
                  <a:lnTo>
                    <a:pt x="4047617" y="3065653"/>
                  </a:lnTo>
                  <a:lnTo>
                    <a:pt x="3818890" y="2669413"/>
                  </a:lnTo>
                  <a:lnTo>
                    <a:pt x="2730119" y="783463"/>
                  </a:lnTo>
                  <a:lnTo>
                    <a:pt x="3182493" y="0"/>
                  </a:lnTo>
                  <a:close/>
                </a:path>
              </a:pathLst>
            </a:custGeom>
            <a:blipFill>
              <a:blip r:embed="rId3"/>
              <a:stretch>
                <a:fillRect l="-7381" t="0" r="-7381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936036" y="-172217"/>
            <a:ext cx="2207964" cy="938375"/>
          </a:xfrm>
          <a:custGeom>
            <a:avLst/>
            <a:gdLst/>
            <a:ahLst/>
            <a:cxnLst/>
            <a:rect r="r" b="b" t="t" l="l"/>
            <a:pathLst>
              <a:path h="938375" w="2207964">
                <a:moveTo>
                  <a:pt x="0" y="0"/>
                </a:moveTo>
                <a:lnTo>
                  <a:pt x="2207964" y="0"/>
                </a:lnTo>
                <a:lnTo>
                  <a:pt x="2207964" y="938375"/>
                </a:lnTo>
                <a:lnTo>
                  <a:pt x="0" y="938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2009" r="-2944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9134088" y="1737324"/>
            <a:ext cx="596166" cy="631699"/>
          </a:xfrm>
          <a:custGeom>
            <a:avLst/>
            <a:gdLst/>
            <a:ahLst/>
            <a:cxnLst/>
            <a:rect r="r" b="b" t="t" l="l"/>
            <a:pathLst>
              <a:path h="631699" w="596166">
                <a:moveTo>
                  <a:pt x="0" y="0"/>
                </a:moveTo>
                <a:lnTo>
                  <a:pt x="596166" y="0"/>
                </a:lnTo>
                <a:lnTo>
                  <a:pt x="596166" y="631699"/>
                </a:lnTo>
                <a:lnTo>
                  <a:pt x="0" y="63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6675" y="2511898"/>
            <a:ext cx="377711" cy="1425348"/>
          </a:xfrm>
          <a:custGeom>
            <a:avLst/>
            <a:gdLst/>
            <a:ahLst/>
            <a:cxnLst/>
            <a:rect r="r" b="b" t="t" l="l"/>
            <a:pathLst>
              <a:path h="1425348" w="377711">
                <a:moveTo>
                  <a:pt x="0" y="0"/>
                </a:moveTo>
                <a:lnTo>
                  <a:pt x="377711" y="0"/>
                </a:lnTo>
                <a:lnTo>
                  <a:pt x="377711" y="1425349"/>
                </a:lnTo>
                <a:lnTo>
                  <a:pt x="0" y="1425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99328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08257" y="9090974"/>
            <a:ext cx="7315200" cy="2322576"/>
          </a:xfrm>
          <a:custGeom>
            <a:avLst/>
            <a:gdLst/>
            <a:ahLst/>
            <a:cxnLst/>
            <a:rect r="r" b="b" t="t" l="l"/>
            <a:pathLst>
              <a:path h="2322576" w="7315200">
                <a:moveTo>
                  <a:pt x="0" y="0"/>
                </a:moveTo>
                <a:lnTo>
                  <a:pt x="7315200" y="0"/>
                </a:lnTo>
                <a:lnTo>
                  <a:pt x="7315200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0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38673" y="7860416"/>
            <a:ext cx="3157754" cy="2718712"/>
            <a:chOff x="0" y="0"/>
            <a:chExt cx="406400" cy="3498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349896"/>
            </a:xfrm>
            <a:custGeom>
              <a:avLst/>
              <a:gdLst/>
              <a:ahLst/>
              <a:cxnLst/>
              <a:rect r="r" b="b" t="t" l="l"/>
              <a:pathLst>
                <a:path h="349896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406400" y="34989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57150"/>
              <a:ext cx="203200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81643" y="-28575"/>
            <a:ext cx="3385600" cy="1626061"/>
            <a:chOff x="0" y="0"/>
            <a:chExt cx="728513" cy="349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8513" cy="349896"/>
            </a:xfrm>
            <a:custGeom>
              <a:avLst/>
              <a:gdLst/>
              <a:ahLst/>
              <a:cxnLst/>
              <a:rect r="r" b="b" t="t" l="l"/>
              <a:pathLst>
                <a:path h="349896" w="728513">
                  <a:moveTo>
                    <a:pt x="525313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728513" y="349896"/>
                  </a:lnTo>
                  <a:lnTo>
                    <a:pt x="525313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57150"/>
              <a:ext cx="525313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7342" y="-630466"/>
            <a:ext cx="11996021" cy="5942495"/>
            <a:chOff x="0" y="0"/>
            <a:chExt cx="706329" cy="3498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329" cy="349896"/>
            </a:xfrm>
            <a:custGeom>
              <a:avLst/>
              <a:gdLst/>
              <a:ahLst/>
              <a:cxnLst/>
              <a:rect r="r" b="b" t="t" l="l"/>
              <a:pathLst>
                <a:path h="349896" w="706329">
                  <a:moveTo>
                    <a:pt x="503129" y="0"/>
                  </a:moveTo>
                  <a:lnTo>
                    <a:pt x="0" y="0"/>
                  </a:lnTo>
                  <a:lnTo>
                    <a:pt x="203200" y="349896"/>
                  </a:lnTo>
                  <a:lnTo>
                    <a:pt x="706329" y="349896"/>
                  </a:lnTo>
                  <a:lnTo>
                    <a:pt x="503129" y="0"/>
                  </a:lnTo>
                  <a:close/>
                </a:path>
              </a:pathLst>
            </a:custGeom>
            <a:solidFill>
              <a:srgbClr val="152D5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57150"/>
              <a:ext cx="503129" cy="40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74565" y="7077909"/>
            <a:ext cx="7629162" cy="4525999"/>
            <a:chOff x="0" y="0"/>
            <a:chExt cx="589566" cy="349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9566" cy="349760"/>
            </a:xfrm>
            <a:custGeom>
              <a:avLst/>
              <a:gdLst/>
              <a:ahLst/>
              <a:cxnLst/>
              <a:rect r="r" b="b" t="t" l="l"/>
              <a:pathLst>
                <a:path h="349760" w="589566">
                  <a:moveTo>
                    <a:pt x="203200" y="0"/>
                  </a:moveTo>
                  <a:lnTo>
                    <a:pt x="589566" y="0"/>
                  </a:lnTo>
                  <a:lnTo>
                    <a:pt x="386366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57150"/>
              <a:ext cx="386366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3950" y="7891779"/>
            <a:ext cx="6043580" cy="811377"/>
            <a:chOff x="0" y="0"/>
            <a:chExt cx="2605206" cy="349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05206" cy="349760"/>
            </a:xfrm>
            <a:custGeom>
              <a:avLst/>
              <a:gdLst/>
              <a:ahLst/>
              <a:cxnLst/>
              <a:rect r="r" b="b" t="t" l="l"/>
              <a:pathLst>
                <a:path h="349760" w="2605206">
                  <a:moveTo>
                    <a:pt x="203200" y="0"/>
                  </a:moveTo>
                  <a:lnTo>
                    <a:pt x="2605206" y="0"/>
                  </a:lnTo>
                  <a:lnTo>
                    <a:pt x="2402006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52D5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57150"/>
              <a:ext cx="2402006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580687" y="7586709"/>
            <a:ext cx="3641982" cy="1421515"/>
            <a:chOff x="0" y="0"/>
            <a:chExt cx="896100" cy="349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6100" cy="349760"/>
            </a:xfrm>
            <a:custGeom>
              <a:avLst/>
              <a:gdLst/>
              <a:ahLst/>
              <a:cxnLst/>
              <a:rect r="r" b="b" t="t" l="l"/>
              <a:pathLst>
                <a:path h="349760" w="896100">
                  <a:moveTo>
                    <a:pt x="203200" y="0"/>
                  </a:moveTo>
                  <a:lnTo>
                    <a:pt x="896100" y="0"/>
                  </a:lnTo>
                  <a:lnTo>
                    <a:pt x="692900" y="349760"/>
                  </a:lnTo>
                  <a:lnTo>
                    <a:pt x="0" y="3497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629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57150"/>
              <a:ext cx="692900" cy="40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1835467">
            <a:off x="16705685" y="-1475359"/>
            <a:ext cx="3511200" cy="3511200"/>
          </a:xfrm>
          <a:custGeom>
            <a:avLst/>
            <a:gdLst/>
            <a:ahLst/>
            <a:cxnLst/>
            <a:rect r="r" b="b" t="t" l="l"/>
            <a:pathLst>
              <a:path h="3511200" w="3511200">
                <a:moveTo>
                  <a:pt x="0" y="0"/>
                </a:moveTo>
                <a:lnTo>
                  <a:pt x="3511200" y="0"/>
                </a:lnTo>
                <a:lnTo>
                  <a:pt x="3511200" y="3511200"/>
                </a:lnTo>
                <a:lnTo>
                  <a:pt x="0" y="3511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522129" y="1028700"/>
            <a:ext cx="9376395" cy="8229600"/>
            <a:chOff x="0" y="0"/>
            <a:chExt cx="10418216" cy="914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8254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18254">
                  <a:moveTo>
                    <a:pt x="8207073" y="817372"/>
                  </a:moveTo>
                  <a:lnTo>
                    <a:pt x="6022551" y="4572000"/>
                  </a:lnTo>
                  <a:lnTo>
                    <a:pt x="8207073" y="8326628"/>
                  </a:lnTo>
                  <a:lnTo>
                    <a:pt x="10418254" y="8326628"/>
                  </a:lnTo>
                  <a:lnTo>
                    <a:pt x="10418254" y="817372"/>
                  </a:lnTo>
                  <a:close/>
                  <a:moveTo>
                    <a:pt x="2660280" y="0"/>
                  </a:moveTo>
                  <a:lnTo>
                    <a:pt x="0" y="4572000"/>
                  </a:lnTo>
                  <a:lnTo>
                    <a:pt x="2660280" y="9144000"/>
                  </a:lnTo>
                  <a:lnTo>
                    <a:pt x="8124511" y="9144000"/>
                  </a:lnTo>
                  <a:lnTo>
                    <a:pt x="5464231" y="4572000"/>
                  </a:lnTo>
                  <a:lnTo>
                    <a:pt x="7648970" y="817372"/>
                  </a:lnTo>
                  <a:lnTo>
                    <a:pt x="8124511" y="0"/>
                  </a:lnTo>
                  <a:close/>
                </a:path>
              </a:pathLst>
            </a:custGeom>
            <a:blipFill>
              <a:blip r:embed="rId5"/>
              <a:stretch>
                <a:fillRect l="-16999" t="0" r="-16999" b="0"/>
              </a:stretch>
            </a:blipFill>
            <a:ln w="152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6016353" y="9187603"/>
            <a:ext cx="2535424" cy="1289897"/>
          </a:xfrm>
          <a:custGeom>
            <a:avLst/>
            <a:gdLst/>
            <a:ahLst/>
            <a:cxnLst/>
            <a:rect r="r" b="b" t="t" l="l"/>
            <a:pathLst>
              <a:path h="1289897" w="2535424">
                <a:moveTo>
                  <a:pt x="0" y="0"/>
                </a:moveTo>
                <a:lnTo>
                  <a:pt x="2535424" y="0"/>
                </a:lnTo>
                <a:lnTo>
                  <a:pt x="2535424" y="1289897"/>
                </a:lnTo>
                <a:lnTo>
                  <a:pt x="0" y="1289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07265" y="2797982"/>
            <a:ext cx="6652124" cy="251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9600" b="true">
                <a:solidFill>
                  <a:srgbClr val="141414"/>
                </a:solidFill>
                <a:latin typeface="Inter Bold"/>
                <a:ea typeface="Inter Bold"/>
                <a:cs typeface="Inter Bold"/>
                <a:sym typeface="Inter Bold"/>
              </a:rPr>
              <a:t>CLOSING &amp; Q&amp;A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7265" y="5841307"/>
            <a:ext cx="6652124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Thank you for your att</a:t>
            </a:r>
            <a:r>
              <a:rPr lang="en-US" sz="25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ention and participation throughout this presentation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07265" y="1096012"/>
            <a:ext cx="478861" cy="442617"/>
            <a:chOff x="0" y="0"/>
            <a:chExt cx="638481" cy="59015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313559" y="61917"/>
              <a:ext cx="324922" cy="466322"/>
              <a:chOff x="0" y="0"/>
              <a:chExt cx="418359" cy="60042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18359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18359">
                    <a:moveTo>
                      <a:pt x="0" y="0"/>
                    </a:moveTo>
                    <a:lnTo>
                      <a:pt x="215159" y="0"/>
                    </a:lnTo>
                    <a:lnTo>
                      <a:pt x="418359" y="300211"/>
                    </a:lnTo>
                    <a:lnTo>
                      <a:pt x="215159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D5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57150"/>
                <a:ext cx="164359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399452" cy="590156"/>
              <a:chOff x="0" y="0"/>
              <a:chExt cx="406400" cy="60042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600421"/>
              </a:xfrm>
              <a:custGeom>
                <a:avLst/>
                <a:gdLst/>
                <a:ahLst/>
                <a:cxnLst/>
                <a:rect r="r" b="b" t="t" l="l"/>
                <a:pathLst>
                  <a:path h="600421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300211"/>
                    </a:lnTo>
                    <a:lnTo>
                      <a:pt x="203200" y="600421"/>
                    </a:lnTo>
                    <a:lnTo>
                      <a:pt x="0" y="600421"/>
                    </a:lnTo>
                    <a:lnTo>
                      <a:pt x="203200" y="300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6299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57150"/>
                <a:ext cx="152400" cy="6575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99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2217417" y="1047750"/>
            <a:ext cx="2502349" cy="4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59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Larana Inc.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5250" y="91011"/>
            <a:ext cx="590823" cy="1514930"/>
          </a:xfrm>
          <a:custGeom>
            <a:avLst/>
            <a:gdLst/>
            <a:ahLst/>
            <a:cxnLst/>
            <a:rect r="r" b="b" t="t" l="l"/>
            <a:pathLst>
              <a:path h="1514930" w="590823">
                <a:moveTo>
                  <a:pt x="0" y="0"/>
                </a:moveTo>
                <a:lnTo>
                  <a:pt x="590823" y="0"/>
                </a:lnTo>
                <a:lnTo>
                  <a:pt x="590823" y="1514929"/>
                </a:lnTo>
                <a:lnTo>
                  <a:pt x="0" y="15149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86462" y="2362834"/>
            <a:ext cx="520804" cy="527396"/>
          </a:xfrm>
          <a:custGeom>
            <a:avLst/>
            <a:gdLst/>
            <a:ahLst/>
            <a:cxnLst/>
            <a:rect r="r" b="b" t="t" l="l"/>
            <a:pathLst>
              <a:path h="527396" w="520804">
                <a:moveTo>
                  <a:pt x="0" y="0"/>
                </a:moveTo>
                <a:lnTo>
                  <a:pt x="520803" y="0"/>
                </a:lnTo>
                <a:lnTo>
                  <a:pt x="520803" y="527396"/>
                </a:lnTo>
                <a:lnTo>
                  <a:pt x="0" y="527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DAG51UPwgNU</dc:identifier>
  <dcterms:modified xsi:type="dcterms:W3CDTF">2011-08-01T06:04:30Z</dcterms:modified>
  <cp:revision>1</cp:revision>
  <dc:title>Global electronic retail Dashboard</dc:title>
</cp:coreProperties>
</file>